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9" r:id="rId3"/>
    <p:sldId id="273" r:id="rId4"/>
    <p:sldId id="27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DFD75-055F-EE47-723A-DF5AC59FF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9527FF-921E-1C89-6C81-46F138D71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3F555-570D-F261-767E-E1DD6B13C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47B63-0224-E80C-FF57-DA6278A9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2A4EA-750D-3D06-F868-55AAF88A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50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4AA-7ADF-75F4-B8FA-4ED4E5D4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F2E1C-1BB2-A646-5767-26B2E9118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9D90A-BFC4-1844-C4EE-7F2BE056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1FEDA-B698-917B-08D4-94B4432FF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6256A-CC58-9526-838B-BE69036F2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788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B497-76D8-8343-5289-BFE716D2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FF702-0A75-BECA-C054-D08D08490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0761F-E99F-CCA8-ECAF-4A9A018F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A0A51-5D9E-E4D0-034B-71B16742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93C59-570C-986F-46F8-D61636B5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3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5299-058F-3E09-BB7F-B5D73587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09508-D547-5CB8-F389-18CB19392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7BEE2-5321-D073-2B9D-79B32AE08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54F92-6964-4DD9-192A-FBC56DDE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DAC9D-01B8-2686-3EA9-A9956520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5CE7-DF27-6B83-9F8D-1436FC2F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64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CF60-E625-932C-EDED-B7E0F137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CDB44-7E14-E56E-7B93-34DBCBC28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CEE3B-D900-E135-9A31-878724137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B75B7-140C-3285-06DA-7293BDAC7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028DE-2003-4E88-A20D-13D2FE3DC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A8383-0C89-A824-2FAF-05B3CD37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C572F-4470-8A4D-5F11-2FFADB03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603F5-A7C4-6CA9-F342-7E089C5E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48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4F57-DC76-0228-152C-9C85565A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C04B1-71F5-287A-C918-201E0252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766B5-F796-1127-4561-64389806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AB86C-CC25-5347-3704-A3F41D42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71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3EDE2-E51D-D42F-351D-25F5A9DFB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420D-C437-6EE5-1DEB-DE05AFCB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2EB11-ED0A-F6A6-DD8E-501449D7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01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F7BC-6F4C-F30B-B130-12E394AB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B170-EC00-E1C4-7A3F-75F5D308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38359-0A10-2FC0-6BA8-1C7F83C80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D6B41-0526-3DB4-6A59-933B2D2A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66948-DC19-D14D-8126-0D9B5529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7ABDD-88C9-4B19-DF2A-22A03F33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79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8826-9B6A-CCB3-94C8-E7204E01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5ECBFD-A939-84EC-43CC-D02869E28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6D690-E201-E779-4CF2-59F3B569D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07AAA-FEBF-C021-8535-DEFF37D2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EF7CC-CE93-2A17-77FD-5F109551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4C452-EC64-2C85-B19B-8F01FB1F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96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B81A-CDFF-899D-384F-6079B404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3E14B-D41D-A68E-01CE-289CED79A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BA18-7EBE-A561-FC96-3F0F2C52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E8DE9-34DB-1C0B-DADD-57459CD1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30AAE-6C3D-FA4B-BF20-9B9C8D34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29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811CD5-0D24-0AE6-6E6F-B61EECAAE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0BBF6-5E7C-8A2E-104D-02171F476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957D7-FC79-7B23-F69F-AFB31401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45B29-DB95-1C1F-0B1C-BEA8A5F3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2C463-BC21-0D64-D9C7-12EF4EE4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65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0FB7D-61DA-A4CA-75C0-AF3B7066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4EAEF-166C-8C64-F4B1-B6E446D19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72DB7-B0D7-348F-B074-6BB1FF944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661F6-0791-46A1-A186-532AC42E03C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F01CE-4A41-97D9-371A-4CCF3DE08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51F0B-FEDC-8BC4-B5A8-DE7C24D48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EEFE5-5D26-4C6A-9956-A67B7A8C0B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05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A7C397-FBE9-D93C-9DA9-B6A2D41A85B0}"/>
              </a:ext>
            </a:extLst>
          </p:cNvPr>
          <p:cNvSpPr txBox="1"/>
          <p:nvPr/>
        </p:nvSpPr>
        <p:spPr>
          <a:xfrm>
            <a:off x="184150" y="627516"/>
            <a:ext cx="11620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Book Antiqua" panose="02040602050305030304" pitchFamily="18" charset="0"/>
              </a:rPr>
              <a:t>Сумма очков, выпавших на паре брошенных костей (скажем, синей и красной), может принимать значения 2, 3, ..., 12 с вероятностями, указанными в следующей таблице: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BDD21-BAD1-53DF-23FF-9D9FB45BD6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39"/>
          <a:stretch>
            <a:fillRect/>
          </a:stretch>
        </p:blipFill>
        <p:spPr>
          <a:xfrm>
            <a:off x="0" y="3164440"/>
            <a:ext cx="12192000" cy="1551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6029A-F0F8-EAFB-18A8-8E229B3BC0BD}"/>
              </a:ext>
            </a:extLst>
          </p:cNvPr>
          <p:cNvSpPr txBox="1"/>
          <p:nvPr/>
        </p:nvSpPr>
        <p:spPr>
          <a:xfrm>
            <a:off x="184150" y="4715649"/>
            <a:ext cx="6864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Book Antiqua" panose="02040602050305030304" pitchFamily="18" charset="0"/>
              </a:rPr>
              <a:t>Эта сумма в данном случае является </a:t>
            </a:r>
            <a:r>
              <a:rPr lang="ru-RU" sz="3200" b="1" dirty="0">
                <a:latin typeface="Book Antiqua" panose="02040602050305030304" pitchFamily="18" charset="0"/>
              </a:rPr>
              <a:t>случайной величиной</a:t>
            </a:r>
          </a:p>
        </p:txBody>
      </p:sp>
    </p:spTree>
    <p:extLst>
      <p:ext uri="{BB962C8B-B14F-4D97-AF65-F5344CB8AC3E}">
        <p14:creationId xmlns:p14="http://schemas.microsoft.com/office/powerpoint/2010/main" val="731929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7CA19A-D4A1-8672-E0FB-5C72C2491841}"/>
              </a:ext>
            </a:extLst>
          </p:cNvPr>
          <p:cNvSpPr txBox="1"/>
          <p:nvPr/>
        </p:nvSpPr>
        <p:spPr>
          <a:xfrm>
            <a:off x="615949" y="665316"/>
            <a:ext cx="109601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Book Antiqua" panose="02040602050305030304" pitchFamily="18" charset="0"/>
              </a:rPr>
              <a:t>Если случайная величина X может в результате испытания принимать числовые значения x1 , x2 , ..., </a:t>
            </a:r>
            <a:r>
              <a:rPr lang="ru-RU" sz="3600" dirty="0" err="1">
                <a:latin typeface="Book Antiqua" panose="02040602050305030304" pitchFamily="18" charset="0"/>
              </a:rPr>
              <a:t>xn</a:t>
            </a:r>
            <a:r>
              <a:rPr lang="ru-RU" sz="3600" dirty="0">
                <a:latin typeface="Book Antiqua" panose="02040602050305030304" pitchFamily="18" charset="0"/>
              </a:rPr>
              <a:t> с вероятностями p1 , p2 , ..., </a:t>
            </a:r>
            <a:r>
              <a:rPr lang="ru-RU" sz="3600" dirty="0" err="1">
                <a:latin typeface="Book Antiqua" panose="02040602050305030304" pitchFamily="18" charset="0"/>
              </a:rPr>
              <a:t>pn</a:t>
            </a:r>
            <a:r>
              <a:rPr lang="ru-RU" sz="3600" dirty="0">
                <a:latin typeface="Book Antiqua" panose="02040602050305030304" pitchFamily="18" charset="0"/>
              </a:rPr>
              <a:t> , то число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003C4-203A-5DB1-86A3-F336AC05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045" y="2509460"/>
            <a:ext cx="7737108" cy="1271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8DB056-4838-B436-CACA-7F54B1798E15}"/>
              </a:ext>
            </a:extLst>
          </p:cNvPr>
          <p:cNvSpPr txBox="1"/>
          <p:nvPr/>
        </p:nvSpPr>
        <p:spPr>
          <a:xfrm>
            <a:off x="615949" y="3561196"/>
            <a:ext cx="66103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Book Antiqua" panose="02040602050305030304" pitchFamily="18" charset="0"/>
              </a:rPr>
              <a:t>называется математическим ожиданием этой случайной величины</a:t>
            </a:r>
          </a:p>
        </p:txBody>
      </p:sp>
    </p:spTree>
    <p:extLst>
      <p:ext uri="{BB962C8B-B14F-4D97-AF65-F5344CB8AC3E}">
        <p14:creationId xmlns:p14="http://schemas.microsoft.com/office/powerpoint/2010/main" val="293539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D4D0-14BF-BDAD-2B00-666D4068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65C6E8-6EA0-B29E-87F0-326C8990D165}"/>
              </a:ext>
            </a:extLst>
          </p:cNvPr>
          <p:cNvSpPr txBox="1"/>
          <p:nvPr/>
        </p:nvSpPr>
        <p:spPr>
          <a:xfrm>
            <a:off x="615949" y="665316"/>
            <a:ext cx="109601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Book Antiqua" panose="02040602050305030304" pitchFamily="18" charset="0"/>
              </a:rPr>
              <a:t>Объяснение через колесо рулетки, у которой длина окружности равна 1: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3EAFB-D41E-504C-6F0F-D7D81A9CF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8845"/>
            <a:ext cx="5321300" cy="4969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6EA1C9-443A-40D4-330D-6D1C5701D095}"/>
              </a:ext>
            </a:extLst>
          </p:cNvPr>
          <p:cNvSpPr txBox="1"/>
          <p:nvPr/>
        </p:nvSpPr>
        <p:spPr>
          <a:xfrm>
            <a:off x="4953000" y="2476500"/>
            <a:ext cx="7239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Book Antiqua" panose="02040602050305030304" pitchFamily="18" charset="0"/>
              </a:rPr>
              <a:t>n </a:t>
            </a:r>
            <a:r>
              <a:rPr lang="ru-RU" sz="3200" dirty="0">
                <a:latin typeface="Book Antiqua" panose="02040602050305030304" pitchFamily="18" charset="0"/>
              </a:rPr>
              <a:t>дуг с длинами от </a:t>
            </a:r>
            <a:r>
              <a:rPr lang="en-US" sz="3200" dirty="0">
                <a:latin typeface="Book Antiqua" panose="02040602050305030304" pitchFamily="18" charset="0"/>
              </a:rPr>
              <a:t>p1 </a:t>
            </a:r>
            <a:r>
              <a:rPr lang="ru-RU" sz="3200" dirty="0">
                <a:latin typeface="Book Antiqua" panose="02040602050305030304" pitchFamily="18" charset="0"/>
              </a:rPr>
              <a:t>до </a:t>
            </a:r>
            <a:r>
              <a:rPr lang="en-US" sz="3200" dirty="0" err="1">
                <a:latin typeface="Book Antiqua" panose="02040602050305030304" pitchFamily="18" charset="0"/>
              </a:rPr>
              <a:t>pn</a:t>
            </a:r>
            <a:r>
              <a:rPr lang="en-US" sz="3200" dirty="0">
                <a:latin typeface="Book Antiqua" panose="02040602050305030304" pitchFamily="18" charset="0"/>
              </a:rPr>
              <a:t> </a:t>
            </a:r>
            <a:r>
              <a:rPr lang="ru-RU" sz="3200" dirty="0">
                <a:latin typeface="Book Antiqua" panose="02040602050305030304" pitchFamily="18" charset="0"/>
              </a:rPr>
              <a:t>и в сумме они дают 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200" dirty="0">
                <a:latin typeface="Book Antiqua" panose="02040602050305030304" pitchFamily="18" charset="0"/>
              </a:rPr>
              <a:t>Игрок начинает игру и рулетка показывает на какое-то значение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200" dirty="0">
                <a:latin typeface="Book Antiqua" panose="02040602050305030304" pitchFamily="18" charset="0"/>
              </a:rPr>
              <a:t>Это значение – это случайная величина (х1, х2 ...)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200" dirty="0">
                <a:latin typeface="Book Antiqua" panose="02040602050305030304" pitchFamily="18" charset="0"/>
              </a:rPr>
              <a:t>Е(Х) - означает </a:t>
            </a:r>
            <a:r>
              <a:rPr lang="en-US" sz="3200" dirty="0">
                <a:latin typeface="Book Antiqua" panose="02040602050305030304" pitchFamily="18" charset="0"/>
              </a:rPr>
              <a:t>“</a:t>
            </a:r>
            <a:r>
              <a:rPr lang="ru-RU" sz="3200" dirty="0">
                <a:latin typeface="Book Antiqua" panose="02040602050305030304" pitchFamily="18" charset="0"/>
              </a:rPr>
              <a:t>среднюю</a:t>
            </a:r>
            <a:r>
              <a:rPr lang="en-US" sz="3200" dirty="0">
                <a:latin typeface="Book Antiqua" panose="02040602050305030304" pitchFamily="18" charset="0"/>
              </a:rPr>
              <a:t>”</a:t>
            </a:r>
            <a:r>
              <a:rPr lang="ru-RU" sz="3200" dirty="0">
                <a:latin typeface="Book Antiqua" panose="02040602050305030304" pitchFamily="18" charset="0"/>
              </a:rPr>
              <a:t> случайную величину </a:t>
            </a:r>
          </a:p>
        </p:txBody>
      </p:sp>
    </p:spTree>
    <p:extLst>
      <p:ext uri="{BB962C8B-B14F-4D97-AF65-F5344CB8AC3E}">
        <p14:creationId xmlns:p14="http://schemas.microsoft.com/office/powerpoint/2010/main" val="184421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318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131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Book Antiqua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Мария Данилова</dc:creator>
  <cp:lastModifiedBy>Мария Данилова</cp:lastModifiedBy>
  <cp:revision>2</cp:revision>
  <dcterms:created xsi:type="dcterms:W3CDTF">2025-12-16T16:53:15Z</dcterms:created>
  <dcterms:modified xsi:type="dcterms:W3CDTF">2025-12-16T21:37:45Z</dcterms:modified>
</cp:coreProperties>
</file>